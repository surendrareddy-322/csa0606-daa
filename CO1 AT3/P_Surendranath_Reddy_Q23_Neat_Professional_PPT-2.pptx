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00DCFF"/>
                </a:solidFill>
                <a:latin typeface="Aptos"/>
              </a:defRPr>
            </a:pPr>
            <a:r>
              <a:t>SUBSTITUTION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AA5AFF"/>
                </a:solidFill>
                <a:latin typeface="Aptos"/>
              </a:defRPr>
            </a:pPr>
            <a:r>
              <a:t>FOR POLYNOMIAL RECURRENCE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0F5FF"/>
                </a:solidFill>
                <a:latin typeface="Aptos"/>
              </a:defRPr>
            </a:pPr>
            <a:r>
              <a:t>T(n) = T(n − 1) + n²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B4BED7"/>
                </a:solidFill>
                <a:latin typeface="Aptos"/>
              </a:defRPr>
            </a:pPr>
            <a:r>
              <a:t>P. Surendranath Reddy  |  Reg. No: 192472356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F0F5FF"/>
                </a:solidFill>
                <a:latin typeface="Aptos"/>
              </a:defRPr>
            </a:pPr>
            <a:r>
              <a:t>CSA0606 – Design and Analysis of Algorithm</a:t>
            </a:r>
            <a:br/>
            <a:r>
              <a:t>Assessment Tool – 3  | 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01  |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Basic idea of recurrence relations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75488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Describes a recursive algorithm.</a:t>
            </a:r>
            <a:br/>
            <a:r>
              <a:t>• Uses a smaller subproblem.</a:t>
            </a:r>
            <a:br/>
            <a:r>
              <a:t>• Substitution expands the recurrence step by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OUR RECURRENCE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75488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T(n) = T(n − 1) + n²</a:t>
            </a:r>
            <a:br/>
            <a:br/>
            <a:r>
              <a:t>• Size decreases by 1.</a:t>
            </a:r>
            <a:br/>
            <a:r>
              <a:t>• Work added is n².</a:t>
            </a:r>
            <a:br/>
            <a:r>
              <a:t>• We find the final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02  |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What we need to 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49224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035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603504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• Analyze T(n) = T(n − 1) + n².</a:t>
            </a:r>
            <a:br/>
            <a:r>
              <a:t>• Expand the recurrence.</a:t>
            </a:r>
            <a:br/>
            <a:r>
              <a:t>• Identify the growth pattern.</a:t>
            </a:r>
            <a:br/>
            <a:r>
              <a:t>• Determine the final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402336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554480"/>
            <a:ext cx="3566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56616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Understand substitution.</a:t>
            </a:r>
            <a:br/>
            <a:r>
              <a:t>• Expand step by step.</a:t>
            </a:r>
            <a:br/>
            <a:r>
              <a:t>• Identify the pattern.</a:t>
            </a:r>
            <a:br/>
            <a:r>
              <a:t>• Prove the bound.</a:t>
            </a:r>
            <a:br/>
            <a:r>
              <a:t>• Find Θ(n³).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03  |  RECURRENCE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Basic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65760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20040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0">
                <a:solidFill>
                  <a:srgbClr val="F0F5FF"/>
                </a:solidFill>
                <a:latin typeface="Aptos"/>
              </a:defRPr>
            </a:pPr>
            <a:r>
              <a:t>T(1) = c</a:t>
            </a:r>
            <a:br/>
            <a:br/>
            <a:r>
              <a:t>• Recursion stops at n =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29184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RECURSIVE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83464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0">
                <a:solidFill>
                  <a:srgbClr val="F0F5FF"/>
                </a:solidFill>
                <a:latin typeface="Aptos"/>
              </a:defRPr>
            </a:pPr>
            <a:r>
              <a:t>T(n) = T(n − 1) + n²</a:t>
            </a:r>
            <a:br/>
            <a:br/>
            <a:r>
              <a:t>• Smaller problem</a:t>
            </a:r>
            <a:br/>
            <a:r>
              <a:t>• Current work: n²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3474720" cy="43434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5544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11680"/>
            <a:ext cx="3017520" cy="3611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n² work per level.</a:t>
            </a:r>
            <a:br/>
            <a:r>
              <a:t>• About n levels.</a:t>
            </a:r>
            <a:br/>
            <a:r>
              <a:t>• Total growth is cubic.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04  |  SUBSTITUTION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Replace the recursive term repeatedly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188720"/>
            <a:ext cx="10149840" cy="749808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325880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9692640" cy="18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T(n) = T(n − 1) + n²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57984"/>
            <a:ext cx="10149840" cy="749808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95144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52344"/>
            <a:ext cx="9692640" cy="18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T(n) = T(n − 2) + (n − 1)² + n²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127248"/>
            <a:ext cx="10149840" cy="749808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64408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21608"/>
            <a:ext cx="9692640" cy="18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Continue the same pattern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96512"/>
            <a:ext cx="10149840" cy="749808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233672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690872"/>
            <a:ext cx="9692640" cy="18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T(n) = T(n − k) + Σ i²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065776"/>
            <a:ext cx="10149840" cy="749808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02936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60136"/>
            <a:ext cx="9692640" cy="18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T(n) = T(1) + 2² + 3² + ... + n²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05  |  DERIVING THE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From sum of squares to the final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SUM OF SQUARES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0">
                <a:solidFill>
                  <a:srgbClr val="F0F5FF"/>
                </a:solidFill>
                <a:latin typeface="Aptos"/>
              </a:defRPr>
            </a:pPr>
            <a:r>
              <a:t>• Recurrence becomes a sum of squares.</a:t>
            </a:r>
            <a:br/>
            <a:br/>
            <a:r>
              <a:t>Σ i² = n(n + 1)(2n + 1) / 6</a:t>
            </a:r>
            <a:br/>
            <a:br/>
            <a:r>
              <a:t>• Highest power is n³.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39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0">
                <a:solidFill>
                  <a:srgbClr val="F0F5FF"/>
                </a:solidFill>
                <a:latin typeface="Aptos"/>
              </a:defRPr>
            </a:pPr>
            <a:r>
              <a:t>• Growth is cubic.</a:t>
            </a:r>
            <a:br/>
            <a:br/>
            <a:r>
              <a:t>Time Complexity:</a:t>
            </a:r>
            <a:br/>
            <a:br/>
            <a:r>
              <a:t>O(n³)  |  Ω(n³)  |  Θ(n³)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06  |  INDUCTION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Checking the result mathematically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5720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Check n = 1.</a:t>
            </a:r>
            <a:br/>
            <a:r>
              <a:t>• T(1) = c.</a:t>
            </a:r>
            <a:br/>
            <a:r>
              <a:t>• Bound is 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45720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ASSUMPTION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Assume result is true for n − 1.</a:t>
            </a:r>
            <a:br/>
            <a:br/>
            <a:r>
              <a:t>T(n − 1) ≤ c₁(n − 1)³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520440" cy="45720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6324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Substitute the assumption.</a:t>
            </a:r>
            <a:br/>
            <a:r>
              <a:t>• Growth remains cubic.</a:t>
            </a:r>
            <a:br/>
            <a:r>
              <a:t>• Therefore T(n) = O(n³).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07  |  GROWTH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Why the result becomes cubic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474720" cy="6858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INPUT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3017520" cy="-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0F5FF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3474720" cy="6858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WORK n²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3017520" cy="-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0F5FF"/>
                </a:solidFill>
                <a:latin typeface="Aptos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6858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5087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TOTAL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017520" cy="-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0F5FF"/>
                </a:solidFill>
                <a:latin typeface="Aptos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822960" y="224028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3774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24028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3774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0" y="283464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24028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3774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458200" y="283464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≈ 1,000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20040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3375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051560" y="379476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20040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3375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754880" y="379476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20040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3375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458200" y="379476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≈ 1,000,000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16052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2976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1051560" y="475488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16052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2976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4754880" y="475488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1,000,000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160520"/>
            <a:ext cx="3474720" cy="73152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29768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458200" y="4754880"/>
            <a:ext cx="301752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≈ 1,000,000,000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00DCFF"/>
                </a:solidFill>
                <a:latin typeface="Aptos"/>
              </a:defRPr>
            </a:pPr>
            <a:r>
              <a:t>n levels × n² work per level  →  Θ(n³)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08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Simple recursive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332720" cy="4389120"/>
          </a:xfrm>
          <a:prstGeom prst="roundRect">
            <a:avLst/>
          </a:prstGeom>
          <a:solidFill>
            <a:srgbClr val="0A0F19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97840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0">
                <a:solidFill>
                  <a:srgbClr val="F0F5FF"/>
                </a:solidFill>
                <a:latin typeface="Consolas"/>
              </a:defRPr>
            </a:pPr>
            <a:r>
              <a:t>long long recurrence(int n)</a:t>
            </a:r>
            <a:br/>
            <a:r>
              <a:t>{</a:t>
            </a:r>
            <a:br/>
            <a:r>
              <a:t>    if (n == 1)</a:t>
            </a:r>
            <a:br/>
            <a:r>
              <a:t>        return 1;</a:t>
            </a:r>
            <a:br/>
            <a:br/>
            <a:r>
              <a:t>    return recurrence(n - 1) + (long long)n * n;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B4BED7"/>
                </a:solidFill>
                <a:latin typeface="Aptos"/>
              </a:defRPr>
            </a:pPr>
            <a:r>
              <a:t>The function calls itself for n − 1 and adds n².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09  | 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Example for n =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71600"/>
            <a:ext cx="4754880" cy="41148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429768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0">
                <a:solidFill>
                  <a:srgbClr val="F0F5FF"/>
                </a:solidFill>
                <a:latin typeface="Aptos"/>
              </a:defRPr>
            </a:pPr>
            <a:r>
              <a:t>n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754880" cy="411480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29768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0">
                <a:solidFill>
                  <a:srgbClr val="F0F5FF"/>
                </a:solidFill>
                <a:latin typeface="Aptos"/>
              </a:defRPr>
            </a:pPr>
            <a:r>
              <a:t>1² + 2² + 3² + 4² + 5²</a:t>
            </a:r>
            <a:br/>
            <a:br/>
            <a:r>
              <a:t>=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50E6A0"/>
                </a:solidFill>
                <a:latin typeface="Aptos"/>
              </a:defRPr>
            </a:pPr>
            <a:r>
              <a:t>OUTPUT: T(5) =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10  |  COMPLEXITY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Final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19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9260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0">
                <a:solidFill>
                  <a:srgbClr val="F0F5FF"/>
                </a:solidFill>
                <a:latin typeface="Aptos"/>
              </a:defRPr>
            </a:pPr>
            <a:r>
              <a:t>Θ(n³)</a:t>
            </a:r>
            <a:br/>
            <a:br/>
            <a:r>
              <a:t>• Cubic growth</a:t>
            </a:r>
            <a:br/>
            <a:r>
              <a:t>• Slow for large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19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260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0">
                <a:solidFill>
                  <a:srgbClr val="F0F5FF"/>
                </a:solidFill>
                <a:latin typeface="Aptos"/>
              </a:defRPr>
            </a:pPr>
            <a:r>
              <a:t>O(n)</a:t>
            </a:r>
            <a:br/>
            <a:br/>
            <a:r>
              <a:t>• Recursive stack</a:t>
            </a:r>
            <a:br/>
            <a:r>
              <a:t>• Depth is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50E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19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50E6A0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19"/>
            <a:ext cx="29260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• Efficient for small n.</a:t>
            </a:r>
            <a:br/>
            <a:r>
              <a:t>• Expensive for large n.</a:t>
            </a:r>
            <a:br/>
            <a:r>
              <a:t>• Optimization may help.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DCFF"/>
                </a:solidFill>
                <a:latin typeface="Aptos"/>
              </a:defRPr>
            </a:pPr>
            <a:r>
              <a:t>11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B4BED7"/>
                </a:solidFill>
                <a:latin typeface="Aptos"/>
              </a:defRPr>
            </a:pPr>
            <a:r>
              <a:t>What we finally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40080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19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00DC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94360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0F5FF"/>
                </a:solidFill>
                <a:latin typeface="Aptos"/>
              </a:defRPr>
            </a:pPr>
            <a:r>
              <a:t>• Substitution expands the recurrence.</a:t>
            </a:r>
            <a:br/>
            <a:r>
              <a:t>• It becomes a sum of squares.</a:t>
            </a:r>
            <a:br/>
            <a:r>
              <a:t>• Sum of squares grows as n³.</a:t>
            </a:r>
            <a:br/>
            <a:r>
              <a:t>• Final time complexity: Θ(n³).</a:t>
            </a:r>
            <a:br/>
            <a:r>
              <a:t>• Space complexity: O(n).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280160"/>
            <a:ext cx="4023360" cy="4480560"/>
          </a:xfrm>
          <a:prstGeom prst="roundRect">
            <a:avLst/>
          </a:prstGeom>
          <a:solidFill>
            <a:srgbClr val="141C3A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19"/>
            <a:ext cx="3566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AA5AFF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56616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0">
                <a:solidFill>
                  <a:srgbClr val="F0F5FF"/>
                </a:solidFill>
                <a:latin typeface="Aptos"/>
              </a:defRPr>
            </a:pPr>
            <a:r>
              <a:t>T(n) = Θ(n³)</a:t>
            </a:r>
            <a:br/>
            <a:br/>
            <a:r>
              <a:t>The algorithm becomes costly as n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400" b="1">
                <a:solidFill>
                  <a:srgbClr val="00DC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0F5FF"/>
                </a:solidFill>
                <a:latin typeface="Aptos"/>
              </a:defRPr>
            </a:pPr>
            <a:r>
              <a:t>1. Introduction to Algorithms – Cormen, Leiserson, Rivest, Stein</a:t>
            </a:r>
            <a:br/>
            <a:r>
              <a:t>2. GeeksforGeeks – Recurrence Relations and Substitution Method</a:t>
            </a:r>
            <a:br/>
            <a:r>
              <a:t>3. TutorialsPoint – Analysis of Algorithms and Recurrence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AA5A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B4BED7"/>
                </a:solidFill>
                <a:latin typeface="Aptos"/>
              </a:defRPr>
            </a:pPr>
            <a:r>
              <a:t>P. Surendranath Reddy  |  192472356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